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AI扫盲课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96C7"/>
                </a:solidFill>
              </a:defRPr>
            </a:pPr>
            <a:r>
              <a:t>从零理解人工智能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27432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8节课带你走进AI的世界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</a:defRPr>
            </a:pPr>
            <a:r>
              <a:t>课程目录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4114800" cy="1005840"/>
          </a:xfrm>
          <a:prstGeom prst="roundRect">
            <a:avLst/>
          </a:prstGeom>
          <a:solidFill>
            <a:srgbClr val="F5F5F5"/>
          </a:solidFill>
          <a:ln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</a:defRPr>
            </a:pPr>
            <a:r>
              <a:t>概率的世界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AI为什么"会说话"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645920"/>
            <a:ext cx="4114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87451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</a:defRPr>
            </a:pPr>
            <a:r>
              <a:t>注意力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让AI"看到"整句话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4114800" cy="1005840"/>
          </a:xfrm>
          <a:prstGeom prst="roundRect">
            <a:avLst/>
          </a:prstGeom>
          <a:solidFill>
            <a:srgbClr val="F5F5F5"/>
          </a:solidFill>
          <a:ln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63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</a:defRPr>
            </a:pPr>
            <a:r>
              <a:t>词的"位置"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嵌入空间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834640"/>
            <a:ext cx="4114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3063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</a:defRPr>
            </a:pPr>
            <a:r>
              <a:t>层层递进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特征的分层学习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4114800" cy="1005840"/>
          </a:xfrm>
          <a:prstGeom prst="roundRect">
            <a:avLst/>
          </a:prstGeom>
          <a:solidFill>
            <a:srgbClr val="F5F5F5"/>
          </a:solidFill>
          <a:ln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51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60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</a:defRPr>
            </a:pPr>
            <a:r>
              <a:t>自己教自己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80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自监督学习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4023360"/>
            <a:ext cx="4114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4251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160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</a:defRPr>
            </a:pPr>
            <a:r>
              <a:t>量变引起质变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480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涌现能力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12080"/>
            <a:ext cx="4114800" cy="1005840"/>
          </a:xfrm>
          <a:prstGeom prst="roundRect">
            <a:avLst/>
          </a:prstGeom>
          <a:solidFill>
            <a:srgbClr val="F5F5F5"/>
          </a:solidFill>
          <a:ln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440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349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</a:defRPr>
            </a:pPr>
            <a:r>
              <a:t>听话的艺术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669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对齐理论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5212080"/>
            <a:ext cx="4114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5440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5349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</a:defRPr>
            </a:pPr>
            <a:r>
              <a:t>举一反三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669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泛化与迁移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949AB"/>
                </a:solidFill>
              </a:defRPr>
            </a:pPr>
            <a:r>
              <a:t>第 1 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概率的世界——AI为什么"会说话"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AI扫盲课 · 从零理解人工智能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引入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68096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💭 AI怎么知道下一个字应该说什么？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场景：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当你和ChatGPT聊天时，它似乎能"理解"你的问题并给出合理的回答。这背后到底是怎样的原理？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核心概念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6459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6C7"/>
                </a:solidFill>
              </a:defRPr>
            </a:pPr>
            <a:r>
              <a:t>💡 一句话理解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AI说话的本质是预测概率——选择最可能的下一个词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📖 大白话解释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就像你打字时手机输入法会根据前面的字猜测你想打什么。AI看过海量的文本，学会了'在什么情况下，什么词最可能出现'。它不是真的'理解'，而是基于概率做出最合理的选择。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生活化的例子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例1: 输入法联想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你打'今天天气'，输入法会自动提示'很好'、'不错'，因为它见过无数次这样的搭配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8229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例2: 成语接龙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听到'画蛇添'，你几乎会本能地说出'足'，因为你的大脑也学会了这种概率模式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例3: 天气预报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看到乌云密布，你会预测可能要下雨——这是基于经验的概率判断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深入理解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949AB"/>
                </a:solidFill>
              </a:defRPr>
            </a:pPr>
            <a:r>
              <a:t>⚙️ 概率预测机制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训练阶段：AI阅读海量文本，统计词与词之间的出现规律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926079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7179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79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上下文窗口：根据前面说的话，确定当前位置可能的候选词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49039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947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概率分布：为每个可能的下一个词计算概率分数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57200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采样生成：根据概率选择下一个词，概率高的更容易被选中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39496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440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循环迭代：将生成的词加入上下文，继续预测下一个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对今天AI的帮助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860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ChatGPT对话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基于概率模型生成流畅自然的回答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代码补全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77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GitHub Copilot预测程序员想写的下一行代码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机器翻译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预测最符合目标语言习惯的表达方式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931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搜索建议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根据输入的前几个字预测完整搜索词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本课小结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7680960" cy="2286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96C7"/>
                </a:solidFill>
              </a:defRPr>
            </a:pPr>
            <a:r>
              <a:t>📝 一句话总结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AI'会说话'的秘诀是概率——通过海量学习掌握语言规律，预测最可能的下一个词。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常见问题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Q1: AI真的理解它说的话吗？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AI并不真正'理解'，它只是在模拟人类语言的模式。就像鹦鹉学舌，它能说出正确的话，但没有人类的意识和体验。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Q2: 为什么AI有时候会胡说八道？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因为概率预测有时会选到错误的高概率组合，或者训练数据中有错误信息。这叫'幻觉'。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Q3: AI是怎么学会这么多知识的？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5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通过阅读互联网上的 billions（数十亿）的文本页面，从中提取统计规律。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949AB"/>
                </a:solidFill>
              </a:defRPr>
            </a:pPr>
            <a:r>
              <a:t>第 2 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注意力——让AI"看到"整句话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AI扫盲课 · 从零理解人工智能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引入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68096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💭 AI怎么知道'它'指的是什么？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场景：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在句子'我把书放在桌子上，因为它太重了'中，AI需要理解'它'指的是'书'而不是'桌子'。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核心概念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6459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6C7"/>
                </a:solidFill>
              </a:defRPr>
            </a:pPr>
            <a:r>
              <a:t>💡 一句话理解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注意力机制让AI关注句子中最重要的部分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📖 大白话解释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就像你阅读时，眼睛会重点关注关键词。AI的注意力机制会计算句子中每个词与其他词的关系强弱，自动找到最相关的信息。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生活化的例子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例1: 阅读理解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读故事时，你会特别关注主角的名字、关键事件，忽略次要描述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8229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例2: 听人说话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嘈杂环境中，你的大脑会自动'聚焦'说话人的声音，过滤背景噪音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例3: 找东西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在杂乱的书桌上找眼镜，你的视线会优先扫过可能被眼镜遮挡的区域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深入理解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949AB"/>
                </a:solidFill>
              </a:defRPr>
            </a:pPr>
            <a:r>
              <a:t>⚙️ 注意力机制原理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Query-Key-Value：将每个词转化为查询、键、值三个向量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926079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7179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79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相似度计算：计算当前词与其他所有词的相关程度（注意力分数）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49039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947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加权聚合：根据注意力分数，加权组合其他词的信息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57200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多头注意力：使用多组注意力同时捕捉不同类型的关系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39496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440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位置编码：保留词在句子中的顺序信息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对今天AI的帮助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860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机器翻译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翻译时关注源语言对应词汇，准确处理语序差异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图像描述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77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看图说话时关注图像中的关键物体和关系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语音识别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从音频流中聚焦语音信号，忽略噪声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931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推荐系统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根据用户历史行为，关注最相关的商品特征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本课小结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7680960" cy="2286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96C7"/>
                </a:solidFill>
              </a:defRPr>
            </a:pPr>
            <a:r>
              <a:t>📝 一句话总结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注意力机制是AI理解上下文的钥匙——让它像人类一样，自动关注信息中最相关的部分。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常见问题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Q1: 注意力和人类的注意力一样吗？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原理类似但实现不同。人类注意力受意识控制，AI的注意力是通过数学计算自动确定的。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Q2: 为什么要用多头注意力？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就像多个观察者从不同角度看问题，多头注意力能捕捉词与词之间不同类型的关系（主谓、动宾等）。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Q3: 注意力有局限吗？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5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是的，当文本很长时，计算量会很大。这就是为什么要限制上下文长度，或开发更高效的注意力变体。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949AB"/>
                </a:solidFill>
              </a:defRPr>
            </a:pPr>
            <a:r>
              <a:t>第 3 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词的"位置"——嵌入空间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AI扫盲课 · 从零理解人工智能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引入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68096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💭 AI怎么区分'苹果'是水果还是公司？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场景：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同一个词在不同语境下有不同含义，AI需要通过'位置'来理解词的真正意思。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核心概念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6459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6C7"/>
                </a:solidFill>
              </a:defRPr>
            </a:pPr>
            <a:r>
              <a:t>💡 一句话理解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嵌入空间将词映射到数学空间，相似意义的词距离更近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📖 大白话解释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想象一个词义地图：'国王'和'王后'离得很近，'苹果（水果）'和'香蕉'聚在一起，'苹果（公司）'则和'谷歌'、'微软'相邻。AI用几百维的向量表示每个词的位置。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生活化的例子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例1: 地图导航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地图上相近的地点实际距离也近，嵌入空间也如此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8229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例2: 图书馆分类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相似主题的书放在相邻书架，方便找到相关资料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例3: 亲戚关系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你、父母、祖父母构成一条线，对应词嵌入中的'家庭关系'方向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深入理解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949AB"/>
                </a:solidFill>
              </a:defRPr>
            </a:pPr>
            <a:r>
              <a:t>⚙️ 词嵌入的工作原理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one-hot编码：最初的表示方式，每个词是独立的维度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926079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7179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79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稠密向量：用几百个实数表示一个词，捕捉语义信息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49039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947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共现统计：经常一起出现的词，嵌入向量更相似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57200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类比关系：向量运算可以捕捉'国王-男+女=王后'这样的关系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39496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440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上下文嵌入：根据周围词动态调整词的含义（如BERT）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对今天AI的帮助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860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语义搜索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搜索'快乐'也能找到'开心'、'愉快'相关内容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情感分析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77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通过词的情感极性向量判断文本情绪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推荐系统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找到与用户偏好向量相似的商品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931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知识图谱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实体嵌入帮助推理实体间关系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本课小结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7680960" cy="2286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96C7"/>
                </a:solidFill>
              </a:defRPr>
            </a:pPr>
            <a:r>
              <a:t>📝 一句话总结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嵌入空间是AI理解词义的地图——让语义相近的词在数学空间中靠近，支持复杂的语义推理。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常见问题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Q1: 嵌入空间有多少维？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常见的有100-1000多维。维度越高表示能力越强，但计算成本也越高。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Q2: 新词怎么办？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训练时没见过的词可以用子词（如Byte-Pair Encoding）表示，或动态计算上下文嵌入。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Q3: 不同语言的词怎么对应？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5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通过多语言对齐训练，让'apple'和'苹果'在嵌入空间中位置相近，实现跨语言理解。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949AB"/>
                </a:solidFill>
              </a:defRPr>
            </a:pPr>
            <a:r>
              <a:t>第 4 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层层递进——特征的分层学习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AI扫盲课 · 从零理解人工智能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引入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68096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💭 AI是怎么从像素认出猫的？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场景：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一张猫的照片只是很多像素点，AI如何通过层层处理最终识别出'这是一只猫'？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核心概念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6459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6C7"/>
                </a:solidFill>
              </a:defRPr>
            </a:pPr>
            <a:r>
              <a:t>💡 一句话理解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神经网络通过层层抽象，从简单特征组合出复杂理解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📖 大白话解释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就像你认识猫：第一层看线条和颜色，第二层识别边缘和纹理，第三层组合出耳朵、眼睛等部件，最后才判断是猫。AI的每一层都学习更高级的特征。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生活化的例子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例1: 拼图游戏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从单块拼图（线条）→ 拼出图案（特征）→ 完成整图（识别）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8229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例2: 学习语言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字母→单词→句子→段落→文章主旨，层层递进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例3: 建筑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砖块→墙面→房间→楼层→整栋楼，不同层次理解建筑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深入理解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949AB"/>
                </a:solidFill>
              </a:defRPr>
            </a:pPr>
            <a:r>
              <a:t>⚙️ 分层特征学习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浅层网络：学习低级特征，如边缘、颜色、基本纹理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926079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7179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79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中层网络：组合低级特征，识别形状、部件、局部结构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49039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947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深层网络：组合中级特征，识别整体对象、场景、语义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57200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特征层次：每一层都在前一层基础上学习更抽象的概念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39496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440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端到端学习：从原始输入直接学习，无需人工设计特征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对今天AI的帮助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860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图像识别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CNN从像素层层提取到物体类别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语音识别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77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从声波→音素→单词→句子→语义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自然语言处理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从字→词→短语→句子→文档语义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931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自动驾驶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从摄像头图像→车道线→车辆→路况→驾驶决策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本课小结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7680960" cy="2286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96C7"/>
                </a:solidFill>
              </a:defRPr>
            </a:pPr>
            <a:r>
              <a:t>📝 一句话总结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分层学习让AI像搭积木一样，从简单特征逐步构建出复杂理解，这是深度学习的核心思想。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常见问题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Q1: 层数越多越好吗？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不是越多越好。层数太深可能导致梯度消失，且计算成本增加。现代模型在深度和效率间找平衡。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Q2: 每一层学什么是由人规定的吗？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不是，是自动学习的。训练过程中，网络自动发现哪些特征对完成任务最有用。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Q3: 不同任务的层可以通用吗？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5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可以！预训练模型的底层特征（如边缘检测）可以迁移到很多视觉任务，只需微调高层。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949AB"/>
                </a:solidFill>
              </a:defRPr>
            </a:pPr>
            <a:r>
              <a:t>第 5 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自己教自己——自监督学习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AI扫盲课 · 从零理解人工智能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引入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68096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💭 没有老师标注，AI怎么学习？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场景：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互联网上有海量未标注的文本、图片，AI能否不依赖人工标签，自己从中学习？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核心概念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6459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6C7"/>
                </a:solidFill>
              </a:defRPr>
            </a:pPr>
            <a:r>
              <a:t>💡 一句话理解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自监督学习让AI从数据本身的结构中自动生成监督信号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📖 大白话解释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就像填空题——遮住一句话中的某个词，让AI预测被遮住的词是什么。因为答案就在原文中，AI可以自己检查对错，不需要人工标注。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生活化的例子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例1: 完形填空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根据上下文猜被挖掉的词，这是语言模型的核心训练方式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8229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例2: 拼图复原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打乱图片块让AI恢复原图，学习图像结构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例3: 视频预测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根据前几帧预测下一帧，学习时间和运动规律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深入理解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949AB"/>
                </a:solidFill>
              </a:defRPr>
            </a:pPr>
            <a:r>
              <a:t>⚙️ 自监督学习的策略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掩码语言模型（MLM）：遮住部分词，预测被遮内容（如BERT）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926079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7179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79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自回归模型：根据前文预测下一个词（如GPT）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49039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947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对比学习：学习让相似样本靠近，不同样本远离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57200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孪生网络：通过数据增强生成正样本对进行学习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39496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440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预训练-微调：先用自监督学习通用表示，再针对任务微调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对今天AI的帮助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860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大语言模型预训练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GPT、BERT在海量文本上自监督学习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图像表示学习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77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SimCLR、MoCo通过对比学习获得通用图像特征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语音识别预训练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wav2vec 2.0从原始音频自监督学习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931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多模态学习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CLIP通过图文配对自监督学习跨模态表示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本课小结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7680960" cy="2286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96C7"/>
                </a:solidFill>
              </a:defRPr>
            </a:pPr>
            <a:r>
              <a:t>📝 一句话总结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自监督学习是AI实现大规模学习的关键——利用数据本身生成'答案'，摆脱对昂贵人工标注的依赖。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常见问题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Q1: 自监督和监督学习有什么区别？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监督学习需要人工标注的答案（标签），自监督的'答案'来自数据本身结构，无需人工标注。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Q2: 为什么自监督能学到有用的东西？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因为语言和世界有很多内在结构。预测下一个词迫使模型学习语法、语义和世界知识。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Q3: 自监督学习有缺点吗？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5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学到的内容受数据分布限制，可能学到偏见。且有些任务很难设计自监督目标。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949AB"/>
                </a:solidFill>
              </a:defRPr>
            </a:pPr>
            <a:r>
              <a:t>第 6 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量变引起质变——涌现能力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AI扫盲课 · 从零理解人工智能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引入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68096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💭 为什么大模型会突然变"聪明"？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场景：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当模型参数从1亿增加到1000亿，它突然展现出小模型没有的推理、创作能力，这是怎么发生的？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核心概念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6459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6C7"/>
                </a:solidFill>
              </a:defRPr>
            </a:pPr>
            <a:r>
              <a:t>💡 一句话理解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当模型规模和数据量达到临界点，会涌现出意想不到的新能力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📖 大白话解释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就像水加热到100度突然变成蒸汽。小模型只能做简单任务，但当规模突破某个阈值，AI突然学会推理、写代码、解数学题——这些能力并非专门训练，而是'涌现'出来的。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生活化的例子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例1: 群体智慧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单个蚂蚁很笨，但蚁群能建造复杂的巢穴、找到最优路径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8229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例2: 大脑发育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足够多的神经元连接产生意识和智能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例3: 城市涌现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足够多的人聚集，产生文化、经济、创新等复杂现象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深入理解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949AB"/>
                </a:solidFill>
              </a:defRPr>
            </a:pPr>
            <a:r>
              <a:t>⚙️ 涌现能力的原理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规模临界点：参数量、数据量、计算量达到特定阈值后出现质变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926079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7179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79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隐式学习：大模型在学习表面任务时，隐式学会了更深层的能力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49039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947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组合泛化：足够大的模型能组合已学技能，解决从未见过的问题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57200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上下文学习：大模型能从提示中'学会'新任务，无需微调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39496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440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相变现象：类似于物理中的相变，系统性质发生根本性改变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对今天AI的帮助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860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少样本学习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给几个例子就能学会新任务（in-context learning）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思维链推理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77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大模型能展示逐步推理过程，解决复杂问题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代码生成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足够大的模型突然具备编写和理解代码的能力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931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多语言能力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大模型在没有专门训练的情况下掌握多种语言翻译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本课小结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7680960" cy="2286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96C7"/>
                </a:solidFill>
              </a:defRPr>
            </a:pPr>
            <a:r>
              <a:t>📝 一句话总结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涌现能力是AI发展的重要现象——当规模突破临界点，AI展现出意料之外的新能力，这也是大模型的魅力所在。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常见问题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Q1: 所有能力都会涌现吗？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不是，有些能力随规模线性增长，有些在临界点后突然涌现，规律还在研究中。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Q2: 小模型能做到吗？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大多数涌现能力需要足够大的模型才出现，小模型通常不具备。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Q3: 涌现能力可以预测吗？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5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目前难以精确预测，但研究者正在寻找评估指标来预判哪些能力会涌现。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949AB"/>
                </a:solidFill>
              </a:defRPr>
            </a:pPr>
            <a:r>
              <a:t>第 7 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听话的艺术——对齐理论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AI扫盲课 · 从零理解人工智能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引入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68096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💭 如何让AI按照人类意图行动？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场景：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AI有能力做很多事，但如何确保它做的是人类真正想要的，而不是表面理解或有害的事？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核心概念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6459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6C7"/>
                </a:solidFill>
              </a:defRPr>
            </a:pPr>
            <a:r>
              <a:t>💡 一句话理解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对齐是让AI的目标和行为与人类的真实意图保持一致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📖 大白话解释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就像训练狗狗——你说'坐下'，它应该坐下而不是趴下或咬你。对齐确保AI不仅'听懂了'指令，而且理解了背后的真实意图，并以安全有益的方式执行。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生活化的例子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例1: 父母与小孩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孩子说'我想吃糖'，父母的'对齐'是理解孩子想快乐，但选择更健康的方式满足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8229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例2: 产品设计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用户说要更快的马，但真正想要的是更快的交通方式——理解深层需求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例3: 法律解释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法律条文需要根据立法精神解释，而非字面意思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深入理解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949AB"/>
                </a:solidFill>
              </a:defRPr>
            </a:pPr>
            <a:r>
              <a:t>⚙️ 对齐方法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RLHF（人类反馈强化学习）：让人评价AI回答，训练AI偏好人类喜欢的回答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926079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7179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79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指令微调：用指令-回答对训练模型，学会遵循人类指令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49039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947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宪法AI：给AI一套原则，让它自我审查是否符合原则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57200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价值学习：从人类行为中学习人类的价值观和偏好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39496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440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安全约束：设置硬规则防止AI产生有害输出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对今天AI的帮助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860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ChatGPT的安全性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通过RLHF减少有害输出，增加有用回答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内容审核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77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AI判断内容是否符合社区规范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医疗AI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确保AI诊断建议符合医学伦理和安全标准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931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自动驾驶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让AI在紧急情况下做出符合人类道德的选择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本课小结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7680960" cy="2286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96C7"/>
                </a:solidFill>
              </a:defRPr>
            </a:pPr>
            <a:r>
              <a:t>📝 一句话总结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对齐是AI安全的核心挑战——让强大的AI系统真正理解和遵循人类意图，做有益的事而不是有害的事。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常见问题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Q1: 对齐会限制AI能力吗？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可能，但必要的限制是为了安全。研究者在探索如何平衡能力和安全。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Q2: 谁来定义什么是对齐？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这是个难题。通常由开发者、研究者、伦理学家和政策制定者共同决定。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Q3: 对齐问题彻底解决了吗？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5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远未解决。随着AI能力增强，对齐挑战也在增加，是AI安全研究的核心方向。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949AB"/>
                </a:solidFill>
              </a:defRPr>
            </a:pPr>
            <a:r>
              <a:t>第 8 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37E"/>
                </a:solidFill>
              </a:defRPr>
            </a:pPr>
            <a:r>
              <a:t>举一反三——泛化与迁移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82880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AI扫盲课 · 从零理解人工智能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引入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68096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💭 AI学会一件事，能做其他事吗？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场景：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AI在英语上训练得很好，它能否自动理解中文？学会了识别猫，能识别狗吗？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核心概念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6459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6C7"/>
                </a:solidFill>
              </a:defRPr>
            </a:pPr>
            <a:r>
              <a:t>💡 一句话理解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泛化让AI把学到的知识应用到新场景，迁移让知识跨任务共享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📖 大白话解释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就像你学会骑自行车后，学骑摩托车会更快。AI的泛化能力让它能处理训练时没见过的情况，迁移学习则让一个任务的知识帮助另一个任务。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生活化的例子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例1: 学乐器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学会钢琴后，学电子琴会更容易，因为基础技能可以迁移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8229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例2: 语言学习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学会一门编程语言后，学另一门会更快，因为逻辑思维是共通的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82296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</a:defRPr>
            </a:pPr>
            <a:r>
              <a:t>例3: 工作经验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在一个行业积累的经验，可以应用到相关的新领域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深入理解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949AB"/>
                </a:solidFill>
              </a:defRPr>
            </a:pPr>
            <a:r>
              <a:t>⚙️ 泛化与迁移的原理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特征共享：底层特征（如边缘检测）在不同任务间通用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926079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7179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79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预训练-微调：在大规模数据预训练，在小数据上微调新任务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49039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947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域适应：让模型适应新领域的数据分布差异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57200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零样本学习：模型从未见过某类样本，但能通过描述识别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394960"/>
            <a:ext cx="365760" cy="3657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440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</a:defRPr>
            </a:pPr>
            <a:r>
              <a:t>元学习：'学会学习'，让模型快速适应新任务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对今天AI的帮助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860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跨语言理解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多语言模型学会一种语言帮助理解其他语言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医学影像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77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用自然图像预训练的模型微调医学诊断任务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少样本分类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看几个例子就能识别新类别的物体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931920"/>
            <a:ext cx="384048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</a:defRPr>
            </a:pPr>
            <a:r>
              <a:t>🔹 持续学习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6634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AI持续学习新任务，同时不忘旧任务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本课小结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7680960" cy="2286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96C7"/>
                </a:solidFill>
              </a:defRPr>
            </a:pPr>
            <a:r>
              <a:t>📝 一句话总结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泛化与迁移是AI实用的关键——让模型学会的知识灵活应用到新场景，实现高效学习和广泛适用。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37E"/>
                </a:solidFill>
              </a:defRPr>
            </a:pPr>
            <a:r>
              <a:t>常见问题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Q1: 为什么有些AI泛化能力差？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可能训练数据太单一，或模型太简单无法捕捉深层规律，或过度拟合训练数据。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Q2: 迁移学习有什么限制？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源任务和目标任务需要有相关性，差异太大时迁移效果差。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49AB"/>
                </a:solidFill>
              </a:defRPr>
            </a:pPr>
            <a:r>
              <a:t>Q3: 人类和AI的泛化能力谁更强？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5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66666"/>
                </a:solidFill>
              </a:defRPr>
            </a:pPr>
            <a:r>
              <a:t>A: 人类通常更强，尤其在抽象推理和常识方面。但AI在处理大量结构化数据时可能有优势。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C7"/>
                </a:solidFill>
              </a:defRPr>
            </a:pPr>
            <a:r>
              <a:t>AI的世界，从此不再神秘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